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
  </p:notesMasterIdLst>
  <p:sldIdLst>
    <p:sldId id="256" r:id="rId3"/>
    <p:sldId id="257" r:id="rId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rPr lang="en-US"/>
              <a:t>0–20 seconds — Slide 1: Tech stack</a:t>
            </a:r>
          </a:p>
          <a:p>
            <a:r>
              <a:rPr lang="en-US"/>
              <a:t/>
            </a:r>
          </a:p>
          <a:p>
            <a:r>
              <a:rPr lang="en-US"/>
              <a:t>Trace is a nutrition tracker built with React and Vite on the frontend, and Node.js with Express on the backend. Supabase handles user accounts and stores food entries. USDA FoodData Central provides the nutrition information.</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r>
              <a:rPr lang="en-US"/>
              <a:t>20–40 seconds — Slide 2, then switch to the app</a:t>
            </a:r>
          </a:p>
          <a:p>
            <a:r>
              <a:rPr lang="en-US"/>
              <a:t>I built Trace to make it easier to understand what I eat, especially micronutrients like iron, calcium, and vitamin D. After signing in, each user has their own diary. I can search for eggs and enter a quantity in grams, ounces, or servings.</a:t>
            </a:r>
          </a:p>
          <a:p>
            <a:r>
              <a:rPr lang="en-US"/>
              <a:t/>
            </a:r>
          </a:p>
          <a:p>
            <a:r>
              <a:rPr lang="en-US"/>
              <a:t>40–60 seconds — Add a food and show the dashboard</a:t>
            </a:r>
          </a:p>
          <a:p>
            <a:r>
              <a:rPr lang="en-US"/>
              <a:t>When I add a food, the dashboard updates my calories, macros, and micronutrients. The bars compare my intake with my daily goals. For micronutrients, anything at ninety percent or higher appears green.</a:t>
            </a:r>
          </a:p>
          <a:p>
            <a:r>
              <a:rPr lang="en-US"/>
              <a:t/>
            </a:r>
          </a:p>
          <a:p>
            <a:r>
              <a:rPr lang="en-US"/>
              <a:t>60–80 seconds — Show Daily goals, then Weekly</a:t>
            </a:r>
          </a:p>
          <a:p>
            <a:r>
              <a:rPr lang="en-US"/>
              <a:t>I can change my daily goals and save them to my account. The weekly view shows my average intake across seven days. My goal was a simple app that makes food logging and nutrient tracking easy.</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731520" y="594360"/>
            <a:ext cx="10789920" cy="731520"/>
          </a:xfrm>
          <a:prstGeom prst="rect">
            <a:avLst/>
          </a:prstGeom>
          <a:noFill/>
          <a:ln>
            <a:noFill/>
          </a:ln>
        </p:spPr>
        <p:txBody>
          <a:bodyPr wrap="square" lIns="0" rIns="0" tIns="0" bIns="0"/>
          <a:lstStyle/>
          <a:p>
            <a:pPr/>
            <a:r>
              <a:rPr lang="en-US" sz="3600" b="1">
                <a:solidFill>
                  <a:srgbClr val="111111"/>
                </a:solidFill>
                <a:latin typeface="Arial"/>
              </a:rPr>
              <a:t>Trace: Tech stack</a:t>
            </a:r>
            <a:endParaRPr lang="en-US"/>
          </a:p>
        </p:txBody>
      </p:sp>
      <p:sp>
        <p:nvSpPr>
          <p:cNvPr id="4" name="Text 4"/>
          <p:cNvSpPr txBox="1"/>
          <p:nvPr/>
        </p:nvSpPr>
        <p:spPr>
          <a:xfrm>
            <a:off x="731520" y="2194560"/>
            <a:ext cx="10789920" cy="548640"/>
          </a:xfrm>
          <a:prstGeom prst="rect">
            <a:avLst/>
          </a:prstGeom>
          <a:noFill/>
          <a:ln>
            <a:noFill/>
          </a:ln>
        </p:spPr>
        <p:txBody>
          <a:bodyPr wrap="square" lIns="0" rIns="0" tIns="0" bIns="0"/>
          <a:lstStyle/>
          <a:p>
            <a:pPr/>
            <a:r>
              <a:rPr lang="en-US" sz="2500" b="0">
                <a:solidFill>
                  <a:srgbClr val="111111"/>
                </a:solidFill>
                <a:latin typeface="Arial"/>
              </a:rPr>
              <a:t>Frontend: React, Vite, JavaScript, CSS</a:t>
            </a:r>
            <a:endParaRPr lang="en-US"/>
          </a:p>
        </p:txBody>
      </p:sp>
      <p:sp>
        <p:nvSpPr>
          <p:cNvPr id="5" name="Text 5"/>
          <p:cNvSpPr txBox="1"/>
          <p:nvPr/>
        </p:nvSpPr>
        <p:spPr>
          <a:xfrm>
            <a:off x="731520" y="2971800"/>
            <a:ext cx="10789920" cy="548640"/>
          </a:xfrm>
          <a:prstGeom prst="rect">
            <a:avLst/>
          </a:prstGeom>
          <a:noFill/>
          <a:ln>
            <a:noFill/>
          </a:ln>
        </p:spPr>
        <p:txBody>
          <a:bodyPr wrap="square" lIns="0" rIns="0" tIns="0" bIns="0"/>
          <a:lstStyle/>
          <a:p>
            <a:pPr/>
            <a:r>
              <a:rPr lang="en-US" sz="2500" b="0">
                <a:solidFill>
                  <a:srgbClr val="111111"/>
                </a:solidFill>
                <a:latin typeface="Arial"/>
              </a:rPr>
              <a:t>Backend: Node.js and Express</a:t>
            </a:r>
            <a:endParaRPr lang="en-US"/>
          </a:p>
        </p:txBody>
      </p:sp>
      <p:sp>
        <p:nvSpPr>
          <p:cNvPr id="6" name="Text 6"/>
          <p:cNvSpPr txBox="1"/>
          <p:nvPr/>
        </p:nvSpPr>
        <p:spPr>
          <a:xfrm>
            <a:off x="731520" y="3749039"/>
            <a:ext cx="10789920" cy="548640"/>
          </a:xfrm>
          <a:prstGeom prst="rect">
            <a:avLst/>
          </a:prstGeom>
          <a:noFill/>
          <a:ln>
            <a:noFill/>
          </a:ln>
        </p:spPr>
        <p:txBody>
          <a:bodyPr wrap="square" lIns="0" rIns="0" tIns="0" bIns="0"/>
          <a:lstStyle/>
          <a:p>
            <a:pPr/>
            <a:r>
              <a:rPr lang="en-US" sz="2500" b="0">
                <a:solidFill>
                  <a:srgbClr val="111111"/>
                </a:solidFill>
                <a:latin typeface="Arial"/>
              </a:rPr>
              <a:t>Accounts and database: Supabase</a:t>
            </a:r>
            <a:endParaRPr lang="en-US"/>
          </a:p>
        </p:txBody>
      </p:sp>
      <p:sp>
        <p:nvSpPr>
          <p:cNvPr id="7" name="Text 7"/>
          <p:cNvSpPr txBox="1"/>
          <p:nvPr/>
        </p:nvSpPr>
        <p:spPr>
          <a:xfrm>
            <a:off x="731520" y="4526279"/>
            <a:ext cx="10789920" cy="548640"/>
          </a:xfrm>
          <a:prstGeom prst="rect">
            <a:avLst/>
          </a:prstGeom>
          <a:noFill/>
          <a:ln>
            <a:noFill/>
          </a:ln>
        </p:spPr>
        <p:txBody>
          <a:bodyPr wrap="square" lIns="0" rIns="0" tIns="0" bIns="0"/>
          <a:lstStyle/>
          <a:p>
            <a:pPr/>
            <a:r>
              <a:rPr lang="en-US" sz="2500" b="0">
                <a:solidFill>
                  <a:srgbClr val="111111"/>
                </a:solidFill>
                <a:latin typeface="Arial"/>
              </a:rPr>
              <a:t>Nutrition data: USDA FoodData Central</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2"/>
          <p:cNvSpPr txBox="1"/>
          <p:nvPr/>
        </p:nvSpPr>
        <p:spPr>
          <a:xfrm>
            <a:off x="731520" y="594360"/>
            <a:ext cx="10789920" cy="731520"/>
          </a:xfrm>
          <a:prstGeom prst="rect">
            <a:avLst/>
          </a:prstGeom>
          <a:noFill/>
          <a:ln>
            <a:noFill/>
          </a:ln>
        </p:spPr>
        <p:txBody>
          <a:bodyPr wrap="square" lIns="0" rIns="0" tIns="0" bIns="0"/>
          <a:lstStyle/>
          <a:p>
            <a:pPr/>
            <a:r>
              <a:rPr lang="en-US" sz="3600" b="1">
                <a:solidFill>
                  <a:srgbClr val="111111"/>
                </a:solidFill>
                <a:latin typeface="Arial"/>
              </a:rPr>
              <a:t>Trace: Nutrition tracker</a:t>
            </a:r>
            <a:endParaRPr lang="en-US"/>
          </a:p>
        </p:txBody>
      </p:sp>
      <p:sp>
        <p:nvSpPr>
          <p:cNvPr id="3" name="Text 3"/>
          <p:cNvSpPr txBox="1"/>
          <p:nvPr/>
        </p:nvSpPr>
        <p:spPr>
          <a:xfrm>
            <a:off x="731520" y="1417320"/>
            <a:ext cx="10789920" cy="457200"/>
          </a:xfrm>
          <a:prstGeom prst="rect">
            <a:avLst/>
          </a:prstGeom>
          <a:noFill/>
          <a:ln>
            <a:noFill/>
          </a:ln>
        </p:spPr>
        <p:txBody>
          <a:bodyPr wrap="square" lIns="0" rIns="0" tIns="0" bIns="0"/>
          <a:lstStyle/>
          <a:p>
            <a:pPr/>
            <a:r>
              <a:rPr lang="en-US" sz="2200" b="0">
                <a:solidFill>
                  <a:srgbClr val="111111"/>
                </a:solidFill>
                <a:latin typeface="Arial"/>
              </a:rPr>
              <a:t>A personal food diary with a focus on micronutrients</a:t>
            </a:r>
            <a:endParaRPr lang="en-US"/>
          </a:p>
        </p:txBody>
      </p:sp>
      <p:sp>
        <p:nvSpPr>
          <p:cNvPr id="4" name="Text 4"/>
          <p:cNvSpPr txBox="1"/>
          <p:nvPr/>
        </p:nvSpPr>
        <p:spPr>
          <a:xfrm>
            <a:off x="731520" y="2194560"/>
            <a:ext cx="10789920" cy="548640"/>
          </a:xfrm>
          <a:prstGeom prst="rect">
            <a:avLst/>
          </a:prstGeom>
          <a:noFill/>
          <a:ln>
            <a:noFill/>
          </a:ln>
        </p:spPr>
        <p:txBody>
          <a:bodyPr wrap="square" lIns="0" rIns="0" tIns="0" bIns="0"/>
          <a:lstStyle/>
          <a:p>
            <a:pPr/>
            <a:r>
              <a:rPr lang="en-US" sz="2500" b="0">
                <a:solidFill>
                  <a:srgbClr val="111111"/>
                </a:solidFill>
                <a:latin typeface="Arial"/>
              </a:rPr>
              <a:t>Log foods and quantities</a:t>
            </a:r>
            <a:endParaRPr lang="en-US"/>
          </a:p>
        </p:txBody>
      </p:sp>
      <p:sp>
        <p:nvSpPr>
          <p:cNvPr id="5" name="Text 5"/>
          <p:cNvSpPr txBox="1"/>
          <p:nvPr/>
        </p:nvSpPr>
        <p:spPr>
          <a:xfrm>
            <a:off x="731520" y="2971800"/>
            <a:ext cx="10789920" cy="548640"/>
          </a:xfrm>
          <a:prstGeom prst="rect">
            <a:avLst/>
          </a:prstGeom>
          <a:noFill/>
          <a:ln>
            <a:noFill/>
          </a:ln>
        </p:spPr>
        <p:txBody>
          <a:bodyPr wrap="square" lIns="0" rIns="0" tIns="0" bIns="0"/>
          <a:lstStyle/>
          <a:p>
            <a:pPr/>
            <a:r>
              <a:rPr lang="en-US" sz="2500" b="0">
                <a:solidFill>
                  <a:srgbClr val="111111"/>
                </a:solidFill>
                <a:latin typeface="Arial"/>
              </a:rPr>
              <a:t>See daily totals and weekly averages</a:t>
            </a:r>
            <a:endParaRPr lang="en-US"/>
          </a:p>
        </p:txBody>
      </p:sp>
      <p:sp>
        <p:nvSpPr>
          <p:cNvPr id="6" name="Text 6"/>
          <p:cNvSpPr txBox="1"/>
          <p:nvPr/>
        </p:nvSpPr>
        <p:spPr>
          <a:xfrm>
            <a:off x="731520" y="3749039"/>
            <a:ext cx="10789920" cy="548640"/>
          </a:xfrm>
          <a:prstGeom prst="rect">
            <a:avLst/>
          </a:prstGeom>
          <a:noFill/>
          <a:ln>
            <a:noFill/>
          </a:ln>
        </p:spPr>
        <p:txBody>
          <a:bodyPr wrap="square" lIns="0" rIns="0" tIns="0" bIns="0"/>
          <a:lstStyle/>
          <a:p>
            <a:pPr/>
            <a:r>
              <a:rPr lang="en-US" sz="2500" b="0">
                <a:solidFill>
                  <a:srgbClr val="111111"/>
                </a:solidFill>
                <a:latin typeface="Arial"/>
              </a:rPr>
              <a:t>Adjust your daily intake goals</a:t>
            </a:r>
            <a:endParaRPr lang="en-US"/>
          </a:p>
        </p:txBody>
      </p:sp>
    </p:spTree>
  </p:cSld>
  <p:clrMapOvr>
    <a:masterClrMapping/>
  </p:clrMapOvr>
</p:sld>
</file>

<file path=ppt/theme/theme1.xml><?xml version="1.0" encoding="utf-8"?>
<a:theme xmlns:a="http://schemas.openxmlformats.org/drawingml/2006/main" name="Plain">
  <a:themeElements>
    <a:clrScheme name="Plain">
      <a:dk1>
        <a:srgbClr val="000000"/>
      </a:dk1>
      <a:lt1>
        <a:srgbClr val="FFFFFF"/>
      </a:lt1>
      <a:dk2>
        <a:srgbClr val="333333"/>
      </a:dk2>
      <a:lt2>
        <a:srgbClr val="EEEEEE"/>
      </a:lt2>
      <a:accent1>
        <a:srgbClr val="333333"/>
      </a:accent1>
      <a:accent2>
        <a:srgbClr val="555555"/>
      </a:accent2>
      <a:accent3>
        <a:srgbClr val="777777"/>
      </a:accent3>
      <a:accent4>
        <a:srgbClr val="999999"/>
      </a:accent4>
      <a:accent5>
        <a:srgbClr val="BBBBBB"/>
      </a:accent5>
      <a:accent6>
        <a:srgbClr val="DDDDDD"/>
      </a:accent6>
      <a:hlink>
        <a:srgbClr val="0000FF"/>
      </a:hlink>
      <a:folHlink>
        <a:srgbClr val="80008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